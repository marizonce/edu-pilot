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vnd.openxmlformats-officedocument.spreadsheetml.sheet" Extension="xlsx"/>
  <Default ContentType="application/xml" Extension="xml"/>
  <Override ContentType="application/vnd.openxmlformats-package.core-properties+xml" PartName="/docProps/core.xml"/>
  <Override ContentType="application/vnd.openxmlformats-officedocument.drawingml.chart+xml" PartName="/ppt/charts/chart1.xml"/>
  <Override ContentType="application/vnd.openxmlformats-officedocument.drawingml.chart+xml" PartName="/ppt/charts/chart2.xml"/>
  <Override ContentType="application/vnd.openxmlformats-officedocument.drawingml.chart+xml" PartName="/ppt/charts/chart3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notesSlides/notesSlide1.xml" Type="http://schemas.openxmlformats.org/officeDocument/2006/relationships/notesSlide"/><Relationship Id="rId15" Target="notesSlides/notesSlide2.xml" Type="http://schemas.openxmlformats.org/officeDocument/2006/relationships/notesSlide"/><Relationship Id="rId16" Target="notesSlides/notesSlide3.xml" Type="http://schemas.openxmlformats.org/officeDocument/2006/relationships/notesSlide"/><Relationship Id="rId17" Target="notesSlides/notesSlide4.xml" Type="http://schemas.openxmlformats.org/officeDocument/2006/relationships/notesSlide"/><Relationship Id="rId18" Target="notesSlides/notesSlide5.xml" Type="http://schemas.openxmlformats.org/officeDocument/2006/relationships/notesSlide"/><Relationship Id="rId2" Target="viewProps.xml" Type="http://schemas.openxmlformats.org/officeDocument/2006/relationships/viewProps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charts/_rels/chart1.xml.rels><?xml version="1.0" encoding="UTF-8" standalone="yes"?><Relationships xmlns="http://schemas.openxmlformats.org/package/2006/relationships"><Relationship Id="rId1" Target="../embeddings/Microsoft_Excel_Worksheet1.xlsx" Type="http://schemas.openxmlformats.org/officeDocument/2006/relationships/package"/></Relationships>
</file>

<file path=ppt/charts/_rels/chart2.xml.rels><?xml version="1.0" encoding="UTF-8" standalone="yes"?><Relationships xmlns="http://schemas.openxmlformats.org/package/2006/relationships"><Relationship Id="rId1" Target="../embeddings/Microsoft_Excel_Worksheet2.xlsx" Type="http://schemas.openxmlformats.org/officeDocument/2006/relationships/package"/></Relationships>
</file>

<file path=ppt/charts/_rels/chart3.xml.rels><?xml version="1.0" encoding="UTF-8" standalone="yes"?><Relationships xmlns="http://schemas.openxmlformats.org/package/2006/relationships"><Relationship Id="rId1" Target="../embeddings/Microsoft_Excel_Worksheet3.xlsx" Type="http://schemas.openxmlformats.org/officeDocument/2006/relationships/package"/></Relationships>
</file>

<file path=ppt/charts/chart1.xml><?xml version="1.0" encoding="utf-8"?>
<chartSpace xmlns="http://schemas.openxmlformats.org/drawingml/2006/chart" xmlns:a="http://schemas.openxmlformats.org/drawingml/2006/main" xmlns:c="http://schemas.openxmlformats.org/drawingml/2006/chart" xmlns:c16r2="http://schemas.microsoft.com/office/drawing/2015/06/chart" xmlns:r="http://schemas.openxmlformats.org/officeDocument/2006/relationships">
  <date1904 val="false"/>
  <lang val="en-US"/>
  <roundedCorners val="true"/>
  <chart>
    <title>
      <tx>
        <rich>
          <a:bodyPr anchorCtr="false" rot="0" spcFirstLastPara="false"/>
          <a:p>
            <a:pPr>
              <a:defRPr b="true" baseline="0" i="false" kern="1200" spc="0" strike="noStrike" sz="1400" u="none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altLang="en-US" b="true" baseline="0" i="false" kern="0" lang="en-US" spc="0" sz="1100">
                <a:solidFill>
                  <a:srgbClr val="0F1E3A"/>
                </a:solidFill>
              </a:rPr>
              <a:t>营收（亿元, 左轴） · 同比增速（%, 右轴）</a:t>
            </a:r>
          </a:p>
        </rich>
      </tx>
      <layout>
        <manualLayout>
          <xMode val="edge"/>
          <yMode val="edge"/>
          <x val="0"/>
          <y val="0"/>
        </manualLayout>
      </layout>
      <overlay val="false"/>
      <spPr/>
      <txPr>
        <a:bodyPr anchorCtr="false" rot="0" spcFirstLastPara="false"/>
        <a:p>
          <a:pPr>
            <a:defRPr b="true" baseline="0" i="false" kern="1200" spc="0" strike="noStrike" sz="14000" u="none"/>
          </a:pPr>
          <a:endParaRPr lang="en-US"/>
        </a:p>
      </txPr>
    </title>
    <plotArea>
      <barChart>
        <barDir val="col"/>
        <grouping val="clustered"/>
        <varyColors val="false"/>
        <ser>
          <idx val="0"/>
          <order val="0"/>
          <tx>
            <v>营收(亿元)</v>
          </tx>
          <spPr>
            <a:solidFill>
              <a:srgbClr val="1C4778"/>
            </a:solidFill>
            <a:ln>
              <a:noFill> </a:noFill>
            </a:ln>
          </spPr>
          <dLbls>
            <showLegendKey val="false"/>
            <showVal val="false"/>
            <showCatName val="false"/>
            <showSerName val="false"/>
            <showPercent val="false"/>
            <showBubbleSize val="false"/>
            <showLeaderLines val="false"/>
          </dLbls>
          <invertIfNegative val="false"/>
          <cat>
            <strLit>
              <pt idx="0">
                <v>24Q1</v>
              </pt>
              <pt idx="1">
                <v>24Q2</v>
              </pt>
              <pt idx="2">
                <v>24Q3</v>
              </pt>
              <pt idx="3">
                <v>24Q4</v>
              </pt>
              <pt idx="4">
                <v>25Q1</v>
              </pt>
              <pt idx="5">
                <v>25Q2</v>
              </pt>
              <pt idx="6">
                <v>25Q3</v>
              </pt>
              <pt idx="7">
                <v>25Q4</v>
              </pt>
              <ptCount val="8"/>
            </strLit>
          </cat>
          <val>
            <numLit>
              <formatCode>General</formatCode>
              <pt idx="0">
                <v>180</v>
              </pt>
              <pt idx="1">
                <v>195</v>
              </pt>
              <pt idx="2">
                <v>210</v>
              </pt>
              <pt idx="3">
                <v>245</v>
              </pt>
              <pt idx="4">
                <v>220</v>
              </pt>
              <pt idx="5">
                <v>238</v>
              </pt>
              <pt idx="6">
                <v>258</v>
              </pt>
              <pt idx="7">
                <v>296</v>
              </pt>
              <ptCount val="8"/>
            </numLit>
          </val>
          <smooth val="false"/>
        </ser>
        <dLbls>
          <showLegendKey val="false"/>
          <showVal val="false"/>
          <showCatName val="false"/>
          <showSerName val="false"/>
          <showPercent val="false"/>
          <showBubbleSize val="false"/>
          <showLeaderLines val="false"/>
        </dLbls>
        <overlap val="-27"/>
        <axId val="754001152"/>
        <axId val="753999904"/>
      </barChart>
      <lineChart>
        <grouping val="standard"/>
        <varyColors val="false"/>
        <ser>
          <idx val="1"/>
          <order val="1"/>
          <tx>
            <v>同比增速</v>
          </tx>
          <spPr>
            <a:solidFill>
              <a:srgbClr val="F08136"/>
            </a:solidFill>
            <a:ln w="19050">
              <a:solidFill>
                <a:srgbClr val="F08136"/>
              </a:solidFill>
            </a:ln>
          </spPr>
          <dLbls>
            <showLegendKey val="false"/>
            <showVal val="false"/>
            <showCatName val="false"/>
            <showSerName val="false"/>
            <showPercent val="false"/>
            <showBubbleSize val="false"/>
            <showLeaderLines val="false"/>
          </dLbls>
          <marker>
            <symbol val="none"/>
            <size val="5"/>
            <spPr>
              <a:solidFill>
                <a:srgbClr val="F08136"/>
              </a:solidFill>
              <a:ln>
                <a:noFill> </a:noFill>
              </a:ln>
            </spPr>
          </marker>
          <invertIfNegative val="false"/>
          <cat>
            <strLit>
              <pt idx="0">
                <v>24Q1</v>
              </pt>
              <pt idx="1">
                <v>24Q2</v>
              </pt>
              <pt idx="2">
                <v>24Q3</v>
              </pt>
              <pt idx="3">
                <v>24Q4</v>
              </pt>
              <pt idx="4">
                <v>25Q1</v>
              </pt>
              <pt idx="5">
                <v>25Q2</v>
              </pt>
              <pt idx="6">
                <v>25Q3</v>
              </pt>
              <pt idx="7">
                <v>25Q4</v>
              </pt>
              <ptCount val="8"/>
            </strLit>
          </cat>
          <val>
            <numLit>
              <formatCode>General</formatCode>
              <pt idx="0">
                <v>0.08</v>
              </pt>
              <pt idx="1">
                <v>0.12</v>
              </pt>
              <pt idx="2">
                <v>0.15</v>
              </pt>
              <pt idx="3">
                <v>0.18</v>
              </pt>
              <pt idx="4">
                <v>0.22</v>
              </pt>
              <pt idx="5">
                <v>0.22</v>
              </pt>
              <pt idx="6">
                <v>0.23</v>
              </pt>
              <pt idx="7">
                <v>0.21</v>
              </pt>
              <ptCount val="8"/>
            </numLit>
          </val>
          <smooth val="false"/>
        </ser>
        <dLbls>
          <showLegendKey val="false"/>
          <showVal val="false"/>
          <showCatName val="false"/>
          <showSerName val="false"/>
          <showPercent val="false"/>
          <showBubbleSize val="false"/>
          <showLeaderLines val="false"/>
        </dLbls>
        <smooth val="false"/>
        <axId val="754001153"/>
        <axId val="753999905"/>
      </lineChart>
      <catAx>
        <axId val="754001152"/>
        <scaling>
          <orientation val="minMax"/>
        </scaling>
        <delete val="false"/>
        <axPos val="b"/>
        <numFmt formatCode="General" sourceLinked="false"/>
        <majorTickMark val="none"/>
        <minorTickMark val="none"/>
        <tickLblPos val="nextTo"/>
        <spPr>
          <a:ln>
            <a:noFill> </a:noFill>
          </a:ln>
        </spPr>
        <txPr>
          <a:bodyPr anchor="ctr" anchorCtr="true" rot="0" spcFirstLastPara="true" vert="horz" vertOverflow="ellipsis" wrap="square"/>
          <a:p>
            <a:pPr>
              <a:defRPr b="false" baseline="0" i="false" kern="1200" spc="0" strike="noStrike" sz="9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txPr>
        <crossAx val="753999904"/>
        <crosses val="min"/>
        <auto val="true"/>
        <lblAlgn val="ctr"/>
        <lblOffset val="100"/>
        <noMultiLvlLbl val="false"/>
      </catAx>
      <valAx>
        <axId val="753999904"/>
        <scaling>
          <orientation val="minMax"/>
        </scaling>
        <delete val="false"/>
        <axPos val="l"/>
        <majorGridlines>
          <spPr>
            <a:ln w="9525">
              <a:solidFill>
                <a:srgbClr val="E2E8F0"/>
              </a:solidFill>
            </a:ln>
          </spPr>
        </majorGridlines>
        <numFmt formatCode="General" sourceLinked="false"/>
        <majorTickMark val="none"/>
        <minorTickMark val="none"/>
        <tickLblPos val="nextTo"/>
        <spPr>
          <a:ln>
            <a:noFill> </a:noFill>
          </a:ln>
        </spPr>
        <txPr>
          <a:bodyPr anchor="ctr" anchorCtr="true" rot="0" spcFirstLastPara="true" vert="horz" vertOverflow="ellipsis" wrap="square"/>
          <a:p>
            <a:pPr>
              <a:defRPr b="false" baseline="0" i="false" kern="1200" spc="0" strike="noStrike" sz="9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txPr>
        <crossAx val="754001152"/>
        <crosses val="min"/>
        <crossBetween val="between"/>
      </valAx>
      <valAx>
        <axId val="753999905"/>
        <scaling>
          <orientation val="minMax"/>
        </scaling>
        <delete val="false"/>
        <axPos val="l"/>
        <numFmt formatCode="General" sourceLinked="false"/>
        <majorTickMark val="none"/>
        <minorTickMark val="none"/>
        <tickLblPos val="nextTo"/>
        <spPr>
          <a:ln>
            <a:noFill> </a:noFill>
          </a:ln>
        </spPr>
        <txPr>
          <a:bodyPr anchor="ctr" anchorCtr="true" rot="0" spcFirstLastPara="true" vert="horz" vertOverflow="ellipsis" wrap="square"/>
          <a:p>
            <a:pPr>
              <a:defRPr b="false" baseline="0" i="false" kern="1200" spc="0" strike="noStrike" sz="9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txPr>
        <crossAx val="754001153"/>
        <crosses val="max"/>
        <crossBetween val="between"/>
      </valAx>
      <catAx>
        <axId val="754001153"/>
        <scaling>
          <orientation val="minMax"/>
        </scaling>
        <delete val="true"/>
        <axPos val="b"/>
        <numFmt formatCode="General" sourceLinked="false"/>
        <majorTickMark val="none"/>
        <minorTickMark val="none"/>
        <tickLblPos val="nextTo"/>
        <spPr>
          <a:ln algn="ctr" cap="flat" cmpd="sng" w="9525">
            <a:solidFill>
              <a:srgbClr val="51565D"/>
            </a:solidFill>
          </a:ln>
        </spPr>
        <txPr>
          <a:bodyPr anchor="ctr" anchorCtr="true" rot="-60000000" spcFirstLastPara="true" vert="horz" vertOverflow="ellipsis" wrap="square"/>
          <a:p>
            <a:pPr>
              <a:defRPr b="false" baseline="0" i="false" kern="1200" spc="0" strike="noStrike" sz="900" u="none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txPr>
        <crossAx val="753999905"/>
        <crosses val="autoZero"/>
        <auto val="true"/>
        <lblAlgn val="ctr"/>
        <lblOffset val="100"/>
        <noMultiLvlLbl val="false"/>
      </catAx>
      <spPr>
        <a:noFill> </a:noFill>
        <a:ln>
          <a:noFill> </a:noFill>
        </a:ln>
      </spPr>
    </plotArea>
    <legend>
      <legendPos val="b"/>
      <overlay val="false"/>
      <txPr>
        <a:bodyPr anchorCtr="false" rot="0" spcFirstLastPara="false"/>
        <a:p>
          <a:pPr>
            <a:defRPr b="false" baseline="0" i="false" kern="1200" spc="0" strike="noStrike" sz="1000"/>
          </a:pPr>
          <a:endParaRPr lang="en-US"/>
        </a:p>
      </txPr>
    </legend>
    <plotVisOnly val="true"/>
    <dispBlanksAs val="gap"/>
    <showDLblsOverMax val="false"/>
  </chart>
  <spPr>
    <a:noFill/>
    <a:ln algn="ctr" cap="flat" cmpd="sng" w="9525">
      <a:noFill/>
    </a:ln>
  </spPr>
  <printSettings>
    <pageMargins b="0.75" footer="0.3" header="0.3" l="0.7" r="0.7" t="0.7"/>
  </printSettings>
  <c:externalData r:id="rId1">
    <c:autoUpdate val="0"/>
  </c:externalData>
</chartSpace>
</file>

<file path=ppt/charts/chart2.xml><?xml version="1.0" encoding="utf-8"?>
<chartSpace xmlns="http://schemas.openxmlformats.org/drawingml/2006/chart" xmlns:a="http://schemas.openxmlformats.org/drawingml/2006/main" xmlns:c="http://schemas.openxmlformats.org/drawingml/2006/chart" xmlns:c16r2="http://schemas.microsoft.com/office/drawing/2015/06/chart" xmlns:r="http://schemas.openxmlformats.org/officeDocument/2006/relationships">
  <date1904 val="false"/>
  <lang val="en-US"/>
  <roundedCorners val="true"/>
  <chart>
    <plotArea>
      <doughnutChart>
        <varyColors val="true"/>
        <ser>
          <idx val="0"/>
          <order val="0"/>
          <tx>
            <v>占比</v>
          </tx>
          <dPt>
            <idx val="0"/>
            <spPr>
              <a:solidFill>
                <a:srgbClr val="1C4778"/>
              </a:solidFill>
            </spPr>
          </dPt>
          <dPt>
            <idx val="1"/>
            <spPr>
              <a:solidFill>
                <a:srgbClr val="F08136"/>
              </a:solidFill>
            </spPr>
          </dPt>
          <dPt>
            <idx val="2"/>
            <spPr>
              <a:solidFill>
                <a:srgbClr val="388E3C"/>
              </a:solidFill>
            </spPr>
          </dPt>
          <dPt>
            <idx val="3"/>
            <spPr>
              <a:solidFill>
                <a:srgbClr val="94A3B8"/>
              </a:solidFill>
            </spPr>
          </dPt>
          <dLbls>
            <showLegendKey val="false"/>
            <showVal val="false"/>
            <showCatName val="true"/>
            <showSerName val="false"/>
            <showPercent val="true"/>
            <showBubbleSize val="false"/>
            <showLeaderLines val="true"/>
            <dLbl>
              <idx val="0"/>
              <showLegendKey val="false"/>
              <showVal val="false"/>
              <showCatName val="true"/>
              <showSerName val="false"/>
              <showPercent val="true"/>
              <showBubbleSize val="false"/>
              <showLeaderLines val="true"/>
              <txPr>
                <a:bodyPr anchorCtr="false" rot="0" spcFirstLastPara="false"/>
                <a:p>
                  <a:pPr>
                    <a:defRPr b="false" baseline="0" i="false" kern="1200" spc="0" strike="noStrike" sz="900">
                      <a:solidFill>
                        <a:srgbClr val="FFFFFF"/>
                      </a:solidFill>
                    </a:defRPr>
                  </a:pPr>
                  <a:endParaRPr lang="en-US"/>
                </a:p>
              </txPr>
            </dLbl>
            <dLbl>
              <idx val="1"/>
              <showLegendKey val="false"/>
              <showVal val="false"/>
              <showCatName val="true"/>
              <showSerName val="false"/>
              <showPercent val="true"/>
              <showBubbleSize val="false"/>
              <showLeaderLines val="true"/>
              <txPr>
                <a:bodyPr anchorCtr="false" rot="0" spcFirstLastPara="false"/>
                <a:p>
                  <a:pPr>
                    <a:defRPr b="false" baseline="0" i="false" kern="1200" spc="0" strike="noStrike" sz="900">
                      <a:solidFill>
                        <a:srgbClr val="FFFFFF"/>
                      </a:solidFill>
                    </a:defRPr>
                  </a:pPr>
                  <a:endParaRPr lang="en-US"/>
                </a:p>
              </txPr>
            </dLbl>
            <dLbl>
              <idx val="2"/>
              <showLegendKey val="false"/>
              <showVal val="false"/>
              <showCatName val="true"/>
              <showSerName val="false"/>
              <showPercent val="true"/>
              <showBubbleSize val="false"/>
              <showLeaderLines val="true"/>
              <txPr>
                <a:bodyPr anchorCtr="false" rot="0" spcFirstLastPara="false"/>
                <a:p>
                  <a:pPr>
                    <a:defRPr b="false" baseline="0" i="false" kern="1200" spc="0" strike="noStrike" sz="900">
                      <a:solidFill>
                        <a:srgbClr val="FFFFFF"/>
                      </a:solidFill>
                    </a:defRPr>
                  </a:pPr>
                  <a:endParaRPr lang="en-US"/>
                </a:p>
              </txPr>
            </dLbl>
            <dLbl>
              <idx val="3"/>
              <showLegendKey val="false"/>
              <showVal val="false"/>
              <showCatName val="true"/>
              <showSerName val="false"/>
              <showPercent val="true"/>
              <showBubbleSize val="false"/>
              <showLeaderLines val="true"/>
              <txPr>
                <a:bodyPr anchorCtr="false" rot="0" spcFirstLastPara="false"/>
                <a:p>
                  <a:pPr>
                    <a:defRPr b="false" baseline="0" i="false" kern="1200" spc="0" strike="noStrike" sz="900">
                      <a:solidFill>
                        <a:srgbClr val="FFFFFF"/>
                      </a:solidFill>
                    </a:defRPr>
                  </a:pPr>
                  <a:endParaRPr lang="en-US"/>
                </a:p>
              </txPr>
            </dLbl>
            <txPr>
              <a:bodyPr anchorCtr="false" rot="0" spcFirstLastPara="false"/>
              <a:p>
                <a:pPr>
                  <a:defRPr b="false" baseline="0" i="false" kern="1200" spc="0" strike="noStrike" sz="9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pPr>
                <a:endParaRPr lang="en-US"/>
              </a:p>
            </txPr>
          </dLbls>
          <invertIfNegative val="false"/>
          <cat>
            <strLit>
              <pt idx="0">
                <v>硬件销售</v>
              </pt>
              <pt idx="1">
                <v>软件服务</v>
              </pt>
              <pt idx="2">
                <v>技术授权</v>
              </pt>
              <pt idx="3">
                <v>其他</v>
              </pt>
              <ptCount val="4"/>
            </strLit>
          </cat>
          <val>
            <numLit>
              <formatCode>General</formatCode>
              <pt idx="0">
                <v>52</v>
              </pt>
              <pt idx="1">
                <v>26</v>
              </pt>
              <pt idx="2">
                <v>15</v>
              </pt>
              <pt idx="3">
                <v>7</v>
              </pt>
              <ptCount val="4"/>
            </numLit>
          </val>
          <smooth val="false"/>
        </ser>
        <holeSize val="55"/>
        <firstSliceAng val="0"/>
      </doughnutChart>
      <spPr>
        <a:noFill> </a:noFill>
        <a:ln>
          <a:noFill> </a:noFill>
        </a:ln>
      </spPr>
    </plotArea>
    <plotVisOnly val="true"/>
    <dispBlanksAs val="gap"/>
    <showDLblsOverMax val="false"/>
  </chart>
  <spPr>
    <a:noFill/>
    <a:ln algn="ctr" cap="flat" cmpd="sng" w="9525">
      <a:noFill/>
    </a:ln>
  </spPr>
  <printSettings>
    <pageMargins b="0.75" footer="0.3" header="0.3" l="0.7" r="0.7" t="0.7"/>
  </printSettings>
  <c:externalData r:id="rId1">
    <c:autoUpdate val="0"/>
  </c:externalData>
</chartSpace>
</file>

<file path=ppt/charts/chart3.xml><?xml version="1.0" encoding="utf-8"?>
<chartSpace xmlns="http://schemas.openxmlformats.org/drawingml/2006/chart" xmlns:a="http://schemas.openxmlformats.org/drawingml/2006/main" xmlns:c="http://schemas.openxmlformats.org/drawingml/2006/chart" xmlns:c16r2="http://schemas.microsoft.com/office/drawing/2015/06/chart" xmlns:r="http://schemas.openxmlformats.org/officeDocument/2006/relationships">
  <date1904 val="false"/>
  <lang val="en-US"/>
  <roundedCorners val="true"/>
  <chart>
    <plotArea>
      <radarChart>
        <radarStyle val="filled"/>
        <varyColors val="false"/>
        <ser>
          <idx val="0"/>
          <order val="0"/>
          <tx>
            <v>本产品</v>
          </tx>
          <spPr>
            <a:solidFill>
              <a:srgbClr val="1C4778">
                <a:alpha val="15000"/>
              </a:srgbClr>
            </a:solidFill>
            <a:ln w="19050">
              <a:solidFill>
                <a:srgbClr val="1C4778"/>
              </a:solidFill>
            </a:ln>
          </spPr>
          <dLbls>
            <showLegendKey val="false"/>
            <showVal val="false"/>
            <showCatName val="false"/>
            <showSerName val="false"/>
            <showPercent val="false"/>
            <showBubbleSize val="false"/>
            <showLeaderLines val="false"/>
          </dLbls>
          <marker>
            <symbol val="none"/>
            <size val="5"/>
          </marker>
          <invertIfNegative val="false"/>
          <cat>
            <strLit>
              <pt idx="0">
                <v>分辨率</v>
              </pt>
              <pt idx="1">
                <v>放大率</v>
              </pt>
              <pt idx="2">
                <v>易用性</v>
              </pt>
              <pt idx="3">
                <v>稳定性</v>
              </pt>
              <pt idx="4">
                <v>性价比</v>
              </pt>
              <pt idx="5">
                <v>扩展性</v>
              </pt>
              <ptCount val="6"/>
            </strLit>
          </cat>
          <val>
            <numLit>
              <formatCode>General</formatCode>
              <pt idx="0">
                <v>9</v>
              </pt>
              <pt idx="1">
                <v>8</v>
              </pt>
              <pt idx="2">
                <v>8</v>
              </pt>
              <pt idx="3">
                <v>9</v>
              </pt>
              <pt idx="4">
                <v>7</v>
              </pt>
              <pt idx="5">
                <v>8</v>
              </pt>
              <ptCount val="6"/>
            </numLit>
          </val>
          <smooth val="false"/>
        </ser>
        <ser>
          <idx val="1"/>
          <order val="1"/>
          <tx>
            <v>竞品A</v>
          </tx>
          <spPr>
            <a:solidFill>
              <a:srgbClr val="F08136">
                <a:alpha val="15000"/>
              </a:srgbClr>
            </a:solidFill>
            <a:ln w="19050">
              <a:solidFill>
                <a:srgbClr val="F08136"/>
              </a:solidFill>
            </a:ln>
          </spPr>
          <dLbls>
            <showLegendKey val="false"/>
            <showVal val="false"/>
            <showCatName val="false"/>
            <showSerName val="false"/>
            <showPercent val="false"/>
            <showBubbleSize val="false"/>
            <showLeaderLines val="false"/>
          </dLbls>
          <marker>
            <symbol val="none"/>
            <size val="5"/>
          </marker>
          <invertIfNegative val="false"/>
          <cat>
            <strLit>
              <pt idx="0">
                <v>分辨率</v>
              </pt>
              <pt idx="1">
                <v>放大率</v>
              </pt>
              <pt idx="2">
                <v>易用性</v>
              </pt>
              <pt idx="3">
                <v>稳定性</v>
              </pt>
              <pt idx="4">
                <v>性价比</v>
              </pt>
              <pt idx="5">
                <v>扩展性</v>
              </pt>
              <ptCount val="6"/>
            </strLit>
          </cat>
          <val>
            <numLit>
              <formatCode>General</formatCode>
              <pt idx="0">
                <v>7</v>
              </pt>
              <pt idx="1">
                <v>9</v>
              </pt>
              <pt idx="2">
                <v>6</v>
              </pt>
              <pt idx="3">
                <v>8</v>
              </pt>
              <pt idx="4">
                <v>9</v>
              </pt>
              <pt idx="5">
                <v>6</v>
              </pt>
              <ptCount val="6"/>
            </numLit>
          </val>
          <smooth val="false"/>
        </ser>
        <dLbls>
          <showLegendKey val="false"/>
          <showVal val="false"/>
          <showCatName val="false"/>
          <showSerName val="false"/>
          <showPercent val="false"/>
          <showBubbleSize val="false"/>
          <showLeaderLines val="false"/>
        </dLbls>
        <axId val="754001152"/>
        <axId val="753999904"/>
      </radarChart>
      <catAx>
        <axId val="754001152"/>
        <scaling>
          <orientation val="minMax"/>
        </scaling>
        <delete val="false"/>
        <axPos val="b"/>
        <numFmt formatCode="General" sourceLinked="false"/>
        <majorTickMark val="none"/>
        <minorTickMark val="none"/>
        <tickLblPos val="nextTo"/>
        <spPr>
          <a:ln>
            <a:noFill> </a:noFill>
          </a:ln>
        </spPr>
        <txPr>
          <a:bodyPr anchor="ctr" anchorCtr="true" rot="0" spcFirstLastPara="true" vert="horz" vertOverflow="ellipsis" wrap="square"/>
          <a:p>
            <a:pPr>
              <a:defRPr b="false" baseline="0" i="false" kern="1200" spc="0" strike="noStrike" sz="8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txPr>
        <crossAx val="753999904"/>
        <crosses val="min"/>
        <auto val="true"/>
        <lblAlgn val="ctr"/>
        <lblOffset val="100"/>
        <noMultiLvlLbl val="false"/>
      </catAx>
      <valAx>
        <axId val="753999904"/>
        <scaling>
          <orientation val="minMax"/>
          <max val="10"/>
        </scaling>
        <delete val="false"/>
        <axPos val="l"/>
        <majorGridlines>
          <spPr>
            <a:ln w="9525">
              <a:solidFill>
                <a:srgbClr val="E2E8F0"/>
              </a:solidFill>
            </a:ln>
          </spPr>
        </majorGridlines>
        <numFmt formatCode="General" sourceLinked="false"/>
        <majorTickMark val="none"/>
        <minorTickMark val="none"/>
        <tickLblPos val="nextTo"/>
        <spPr>
          <a:ln>
            <a:noFill> </a:noFill>
          </a:ln>
        </spPr>
        <txPr>
          <a:bodyPr anchor="ctr" anchorCtr="true" rot="0" spcFirstLastPara="true" vert="horz" vertOverflow="ellipsis" wrap="square"/>
          <a:p>
            <a:pPr>
              <a:defRPr b="false" baseline="0" i="false" kern="1200" spc="0" strike="noStrike" sz="7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txPr>
        <crossAx val="754001152"/>
        <crosses val="min"/>
        <crossBetween val="between"/>
      </valAx>
      <spPr>
        <a:noFill> </a:noFill>
        <a:ln>
          <a:noFill> </a:noFill>
        </a:ln>
      </spPr>
    </plotArea>
    <legend>
      <legendPos val="b"/>
      <overlay val="false"/>
      <txPr>
        <a:bodyPr anchorCtr="false" rot="0" spcFirstLastPara="false"/>
        <a:p>
          <a:pPr>
            <a:defRPr b="false" baseline="0" i="false" kern="1200" spc="0" strike="noStrike" sz="900"/>
          </a:pPr>
          <a:endParaRPr lang="en-US"/>
        </a:p>
      </txPr>
    </legend>
    <plotVisOnly val="true"/>
    <dispBlanksAs val="gap"/>
    <showDLblsOverMax val="false"/>
  </chart>
  <spPr>
    <a:noFill/>
    <a:ln algn="ctr" cap="flat" cmpd="sng" w="9525">
      <a:noFill/>
    </a:ln>
  </spPr>
  <printSettings>
    <pageMargins b="0.75" footer="0.3" header="0.3" l="0.7" r="0.7" t="0.7"/>
  </printSettings>
  <c:externalData r:id="rId1">
    <c:autoUpdate val="0"/>
  </c:externalData>
</chartSpace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本页为封面页，用于测试解析工具对标题、副标题、正文、装饰形状、实物图片及图片说明文字的识别能力。左侧深蓝色块包含标题与元信息，右侧为带圆角和边框的实物图片，底部有图片说明文字。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本页为数据图表测试页，包含一个柱状+折线双轴组合图、一个五行三列的原生表格（含表头样式和正负颜色区分）、两个关键指标卡片（深色和浅色各一）、以及底部分析结论文字。用于测试解析工具对 chart、table、shape、text 等多种元素的混合提取能力。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本页为公式测试页，包含多个 LaTeX 数学公式：薄透镜成像公式（分式）、横向放大率（分式+负号）、瑞利判据（希腊字母 lambda、theta）、阿贝成像理论（二重积分、指数函数、傅里叶变换形式）。公式与正文混排，右侧配有实物图片和深色参数卡片。用于测试解析工具对 formula 元素的 LaTeX 源码提取及图文混排的位置关系识别。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本页为多元素混合测试页，是全 deck 中元素类型最丰富的一页：包含环形图（pie + innerRadius）、雷达图（radar）、七行三列原生表格（含价格颜色标注）、四个 IconPark 图标（不同颜色填充）、四组图标+标题+描述的列表卡片、虚线分隔线、以及底部综合评价文字。用于测试解析工具对 chart 多类型、table、icon、shape、line（含 dashArray）等元素的综合识别与层级关系解析。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本页为收尾总结页，包含一个三系列堆叠面积图、一个有序列表（ol）、一个深色引用块（含斜体文字）、两个超链接（a 标签）、联系方式文字以及免责声明。用于测试解析工具对有序列表、斜体样式、超链接、引用块等文本富格式的提取能力。至此全 deck 5 页全部完成，覆盖文本、公式、表格、图表、图片、图标、形状、线条、超链接、备注等全部常见元素。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charts/chart1.xml" Type="http://schemas.openxmlformats.org/officeDocument/2006/relationships/chart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notesSlides/notesSlide4.xml" Type="http://schemas.openxmlformats.org/officeDocument/2006/relationships/notesSlide"/><Relationship Id="rId2" Target="../charts/chart2.xml" Type="http://schemas.openxmlformats.org/officeDocument/2006/relationships/chart"/><Relationship Id="rId3" Target="../charts/chart3.xml" Type="http://schemas.openxmlformats.org/officeDocument/2006/relationships/chart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1.png" Type="http://schemas.openxmlformats.org/officeDocument/2006/relationships/image"/><Relationship Id="rId3" Target="https://example.com/research/optics-2026" TargetMode="External" Type="http://schemas.openxmlformats.org/officeDocument/2006/relationships/hyperlink"/><Relationship Id="rId4" Target="https://example.com/lab/evaluation" TargetMode="External" Type="http://schemas.openxmlformats.org/officeDocument/2006/relationships/hyperlink"/><Relationship Id="rId5" Target="../notesSlides/notesSlide5.xml" Type="http://schemas.openxmlformats.org/officeDocument/2006/relationships/notesSlide"/><Relationship Id="rId6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5334000" cy="6858000"/>
          </a:xfrm>
          <a:prstGeom prst="roundRect">
            <a:avLst>
              <a:gd name="adj" fmla="val 0"/>
            </a:avLst>
          </a:prstGeom>
          <a:solidFill>
            <a:srgbClr val="0F1E3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0"/>
            <a:ext cx="101600" cy="6858000"/>
          </a:xfrm>
          <a:prstGeom prst="roundRect">
            <a:avLst>
              <a:gd name="adj" fmla="val 0"/>
            </a:avLst>
          </a:prstGeom>
          <a:solidFill>
            <a:srgbClr val="F0813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600" y="762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08136"/>
                </a:solidFill>
                <a:latin typeface="Noto Serif SC"/>
                <a:ea typeface="Noto Serif SC"/>
                <a:cs typeface="Noto Serif SC"/>
                <a:sym typeface="Noto Serif SC"/>
              </a:rPr>
              <a:t>TEST SUITE · v2.0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09600" y="1397000"/>
            <a:ext cx="4318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8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PPT 解析工具</a:t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38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综合测试用例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09600" y="3175000"/>
            <a:ext cx="431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500">
                <a:solidFill>
                  <a:srgbClr val="B4C0D2"/>
                </a:solidFill>
                <a:latin typeface="Noto Serif SC"/>
                <a:ea typeface="Noto Serif SC"/>
                <a:cs typeface="Noto Serif SC"/>
                <a:sym typeface="Noto Serif SC"/>
              </a:rPr>
              <a:t>覆盖公式、表格、图表、图片、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500">
                <a:solidFill>
                  <a:srgbClr val="B4C0D2"/>
                </a:solidFill>
                <a:latin typeface="Noto Serif SC"/>
                <a:ea typeface="Noto Serif SC"/>
                <a:cs typeface="Noto Serif SC"/>
                <a:sym typeface="Noto Serif SC"/>
              </a:rPr>
              <a:t>形状、图标、备注等复杂元素</a:t>
            </a:r>
          </a:p>
        </p:txBody>
      </p:sp>
      <p:cxnSp>
        <p:nvCxnSpPr>
          <p:cNvPr name="Connector 7" id="7"/>
          <p:cNvCxnSpPr/>
          <p:nvPr/>
        </p:nvCxnSpPr>
        <p:spPr>
          <a:xfrm rot="-30693" flipH="false" flipV="false">
            <a:off x="609628" y="4311650"/>
            <a:ext cx="142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08136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609600" y="4572000"/>
            <a:ext cx="431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Noto Serif SC"/>
                <a:ea typeface="Noto Serif SC"/>
                <a:cs typeface="Noto Serif SC"/>
                <a:sym typeface="Noto Serif SC"/>
              </a:rPr>
              <a:t>编制日期：2026 年 8 月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200">
                <a:solidFill>
                  <a:srgbClr val="94A3B8"/>
                </a:solidFill>
                <a:latin typeface="Noto Serif SC"/>
                <a:ea typeface="Noto Serif SC"/>
                <a:cs typeface="Noto Serif SC"/>
                <a:sym typeface="Noto Serif SC"/>
              </a:rPr>
              <a:t>页面数量：5 页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200">
                <a:solidFill>
                  <a:srgbClr val="94A3B8"/>
                </a:solidFill>
                <a:latin typeface="Noto Serif SC"/>
                <a:ea typeface="Noto Serif SC"/>
                <a:cs typeface="Noto Serif SC"/>
                <a:sym typeface="Noto Serif SC"/>
              </a:rPr>
              <a:t>元素类型：文本 / 公式 / 表格 / 图表 / 图片 / 形状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09600" y="60960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4748B"/>
                </a:solidFill>
                <a:latin typeface="Noto Serif SC"/>
                <a:ea typeface="Noto Serif SC"/>
                <a:cs typeface="Noto Serif SC"/>
                <a:sym typeface="Noto Serif SC"/>
              </a:rPr>
              <a:t>CONFIDENTIAL · FOR INTERNAL TESTING ONLY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/>
          <a:srcRect l="0" r="0" t="8695" b="8695"/>
          <a:stretch>
            <a:fillRect/>
          </a:stretch>
        </p:blipFill>
        <p:spPr>
          <a:xfrm rot="0" flipH="false" flipV="false">
            <a:off x="5842000" y="1016000"/>
            <a:ext cx="5842000" cy="4826000"/>
          </a:xfrm>
          <a:prstGeom prst="roundRect">
            <a:avLst>
              <a:gd name="adj" fmla="val 3157"/>
            </a:avLst>
          </a:prstGeom>
          <a:noFill/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0" flipH="false" flipV="false">
            <a:off x="5842000" y="6096000"/>
            <a:ext cx="5842000" cy="457200"/>
          </a:xfrm>
          <a:prstGeom prst="roundRect">
            <a:avLst>
              <a:gd name="adj" fmla="val 2222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096000" y="6172200"/>
            <a:ext cx="533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图 1-1 实验室双目生物显微镜（实物图片测试）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8F9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812800"/>
          </a:xfrm>
          <a:prstGeom prst="roundRect">
            <a:avLst>
              <a:gd name="adj" fmla="val 0"/>
            </a:avLst>
          </a:prstGeom>
          <a:solidFill>
            <a:srgbClr val="0F1E3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0"/>
            <a:ext cx="101600" cy="812800"/>
          </a:xfrm>
          <a:prstGeom prst="roundRect">
            <a:avLst>
              <a:gd name="adj" fmla="val 0"/>
            </a:avLst>
          </a:prstGeom>
          <a:solidFill>
            <a:srgbClr val="F0813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406400" y="152400"/>
            <a:ext cx="762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季度营收与增速分析 · 数据图表测试页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06400" y="508000"/>
            <a:ext cx="762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B4C0D2"/>
                </a:solidFill>
                <a:latin typeface="Noto Serif SC"/>
                <a:ea typeface="Noto Serif SC"/>
                <a:cs typeface="Noto Serif SC"/>
                <a:sym typeface="Noto Serif SC"/>
              </a:rPr>
              <a:t>组合图（柱状+折线双轴） · 原生表格 · 关键指标卡片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0" y="279400"/>
            <a:ext cx="16256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DCE4F0"/>
                </a:solidFill>
                <a:latin typeface="Noto Serif SC"/>
                <a:ea typeface="Noto Serif SC"/>
                <a:cs typeface="Noto Serif SC"/>
                <a:sym typeface="Noto Serif SC"/>
              </a:rPr>
              <a:t>PAGE 02 / 05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06400" y="1066800"/>
            <a:ext cx="6858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06400" y="1066800"/>
            <a:ext cx="6858000" cy="381000"/>
          </a:xfrm>
          <a:prstGeom prst="roundRect">
            <a:avLst>
              <a:gd name="adj" fmla="val 0"/>
            </a:avLst>
          </a:prstGeom>
          <a:solidFill>
            <a:srgbClr val="F0F4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09600" y="1130300"/>
            <a:ext cx="635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F1E3A"/>
                </a:solidFill>
                <a:latin typeface="Noto Serif SC"/>
                <a:ea typeface="Noto Serif SC"/>
                <a:cs typeface="Noto Serif SC"/>
                <a:sym typeface="Noto Serif SC"/>
              </a:rPr>
              <a:t>八季度营收与同比增速（组合图 · 双 Y 轴）</a:t>
            </a:r>
            <a:endParaRPr lang="en-US" sz="1100"/>
          </a:p>
        </p:txBody>
      </p:sp>
      <p:graphicFrame xmlns:r="http://schemas.openxmlformats.org/officeDocument/2006/relationships">
        <p:nvGraphicFramePr>
          <p:cNvPr id="10" name="Chart 10"/>
          <p:cNvGraphicFramePr>
            <a:graphicFrameLocks noGrp="1"/>
          </p:cNvGraphicFramePr>
          <p:nvPr/>
        </p:nvGraphicFramePr>
        <p:xfrm>
          <a:off x="596900" y="1549400"/>
          <a:ext cx="6477000" cy="3683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name="AutoShape 10" id="10"/>
          <p:cNvSpPr/>
          <p:nvPr/>
        </p:nvSpPr>
        <p:spPr>
          <a:xfrm rot="0" flipH="false" flipV="false">
            <a:off x="7518400" y="1066800"/>
            <a:ext cx="42672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518400" y="1066800"/>
            <a:ext cx="4267200" cy="381000"/>
          </a:xfrm>
          <a:prstGeom prst="roundRect">
            <a:avLst>
              <a:gd name="adj" fmla="val 0"/>
            </a:avLst>
          </a:prstGeom>
          <a:solidFill>
            <a:srgbClr val="F0F4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721600" y="1130300"/>
            <a:ext cx="381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F1E3A"/>
                </a:solidFill>
                <a:latin typeface="Noto Serif SC"/>
                <a:ea typeface="Noto Serif SC"/>
                <a:cs typeface="Noto Serif SC"/>
                <a:sym typeface="Noto Serif SC"/>
              </a:rPr>
              <a:t>核心财务指标明细</a:t>
            </a:r>
            <a:endParaRPr lang="en-US" sz="1100"/>
          </a:p>
        </p:txBody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7670800" y="1549400"/>
          <a:ext cx="3962400" cy="1905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97000"/>
                <a:gridCol w="1143000"/>
                <a:gridCol w="1422400"/>
              </a:tblGrid>
              <a:tr h="3429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指标</a:t>
                      </a:r>
                      <a:endParaRPr lang="en-US" sz="1100"/>
                    </a:p>
                  </a:txBody>
                  <a:tcPr anchor="ctr" anchorCtr="false" marL="101600" marR="101600" marT="95250" marB="952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E3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2025 全年</a:t>
                      </a:r>
                      <a:endParaRPr lang="en-US" sz="1100"/>
                    </a:p>
                  </a:txBody>
                  <a:tcPr anchor="ctr" anchorCtr="false" marL="101600" marR="101600" marT="95250" marB="952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E3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同比变化</a:t>
                      </a:r>
                      <a:endParaRPr lang="en-US" sz="1100"/>
                    </a:p>
                  </a:txBody>
                  <a:tcPr anchor="ctr" anchorCtr="false" marL="101600" marR="101600" marT="95250" marB="952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E3A">
                        <a:alpha val="100000"/>
                      </a:srgbClr>
                    </a:solidFill>
                  </a:tcPr>
                </a:tc>
              </a:tr>
              <a:tr h="3175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营业总收入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1,012 亿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388E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+22.3%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75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毛利润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428 亿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388E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+18.7%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75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研发费用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156 亿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388E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+25.1%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75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经营利润率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28.4%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DC26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-1.2pp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21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归母净利润</a:t>
                      </a:r>
                      <a:endParaRPr lang="en-US" sz="1100"/>
                    </a:p>
                  </a:txBody>
                  <a:tcPr anchor="ctr" anchorCtr="false" marL="101600" marR="101600" marT="69850" marB="698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234 亿</a:t>
                      </a:r>
                      <a:endParaRPr lang="en-US" sz="1100"/>
                    </a:p>
                  </a:txBody>
                  <a:tcPr anchor="ctr" anchorCtr="false" marL="101600" marR="101600" marT="69850" marB="698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388E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+19.8%</a:t>
                      </a:r>
                      <a:endParaRPr lang="en-US" sz="1100"/>
                    </a:p>
                  </a:txBody>
                  <a:tcPr anchor="ctr" anchorCtr="false" marL="101600" marR="101600" marT="69850" marB="698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14" id="14"/>
          <p:cNvSpPr/>
          <p:nvPr/>
        </p:nvSpPr>
        <p:spPr>
          <a:xfrm rot="0" flipH="false" flipV="false">
            <a:off x="7518400" y="3810000"/>
            <a:ext cx="2032000" cy="1574800"/>
          </a:xfrm>
          <a:prstGeom prst="roundRect">
            <a:avLst>
              <a:gd name="adj" fmla="val 0"/>
            </a:avLst>
          </a:prstGeom>
          <a:solidFill>
            <a:srgbClr val="0F1E3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518400" y="3810000"/>
            <a:ext cx="2032000" cy="50800"/>
          </a:xfrm>
          <a:prstGeom prst="roundRect">
            <a:avLst>
              <a:gd name="adj" fmla="val 0"/>
            </a:avLst>
          </a:prstGeom>
          <a:solidFill>
            <a:srgbClr val="F0813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721600" y="4013200"/>
            <a:ext cx="1651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F08136"/>
                </a:solidFill>
                <a:latin typeface="Noto Serif SC"/>
                <a:ea typeface="Noto Serif SC"/>
                <a:cs typeface="Noto Serif SC"/>
                <a:sym typeface="Noto Serif SC"/>
              </a:rPr>
              <a:t>营收 CAGR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721600" y="4292600"/>
            <a:ext cx="1651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21.5%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721600" y="4927600"/>
            <a:ext cx="165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000">
                <a:solidFill>
                  <a:srgbClr val="B4C0D2"/>
                </a:solidFill>
                <a:latin typeface="Noto Serif SC"/>
                <a:ea typeface="Noto Serif SC"/>
                <a:cs typeface="Noto Serif SC"/>
                <a:sym typeface="Noto Serif SC"/>
              </a:rPr>
              <a:t>2023-2025 三年复合增长率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753600" y="3810000"/>
            <a:ext cx="2032000" cy="1574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753600" y="3810000"/>
            <a:ext cx="2032000" cy="50800"/>
          </a:xfrm>
          <a:prstGeom prst="roundRect">
            <a:avLst>
              <a:gd name="adj" fmla="val 0"/>
            </a:avLst>
          </a:prstGeom>
          <a:solidFill>
            <a:srgbClr val="388E3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956800" y="4013200"/>
            <a:ext cx="1651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388E3C"/>
                </a:solidFill>
                <a:latin typeface="Noto Serif SC"/>
                <a:ea typeface="Noto Serif SC"/>
                <a:cs typeface="Noto Serif SC"/>
                <a:sym typeface="Noto Serif SC"/>
              </a:rPr>
              <a:t>研发投入占比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956800" y="4292600"/>
            <a:ext cx="1651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F1E3A"/>
                </a:solidFill>
                <a:latin typeface="Noto Serif SC"/>
                <a:ea typeface="Noto Serif SC"/>
                <a:cs typeface="Noto Serif SC"/>
                <a:sym typeface="Noto Serif SC"/>
              </a:rPr>
              <a:t>15.4%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956800" y="4927600"/>
            <a:ext cx="165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000">
                <a:solidFill>
                  <a:srgbClr val="64748B"/>
                </a:solidFill>
                <a:latin typeface="Noto Serif SC"/>
                <a:ea typeface="Noto Serif SC"/>
                <a:cs typeface="Noto Serif SC"/>
                <a:sym typeface="Noto Serif SC"/>
              </a:rPr>
              <a:t>连续 5 年保持 15% 以上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06400" y="5588000"/>
            <a:ext cx="11379200" cy="711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09600" y="5715000"/>
            <a:ext cx="10972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334155"/>
                </a:solidFill>
                <a:latin typeface="Noto Serif SC"/>
                <a:ea typeface="Noto Serif SC"/>
                <a:cs typeface="Noto Serif SC"/>
                <a:sym typeface="Noto Serif SC"/>
              </a:rPr>
              <a:t>分析结论：</a:t>
            </a:r>
            <a:r>
              <a:rPr lang="en-US" b="false" i="false" strike="noStrike" u="none" sz="1200">
                <a:solidFill>
                  <a:srgbClr val="334155"/>
                </a:solidFill>
                <a:latin typeface="Noto Serif SC"/>
                <a:ea typeface="Noto Serif SC"/>
                <a:cs typeface="Noto Serif SC"/>
                <a:sym typeface="Noto Serif SC"/>
              </a:rPr>
              <a:t>2025 全年营收突破千亿大关，同比增长 22.3%，连续六个季度保持双位数增速。研发费用率维持在 15.4% 的高位，为后续产品迭代提供支撑。需关注 25Q4 增速首次回落 2 个百分点，高基数效应下 2026 年增长压力增大。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3836" flipH="false" flipV="false">
            <a:off x="406404" y="6470650"/>
            <a:ext cx="11379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406400" y="6553200"/>
            <a:ext cx="635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4A3B8"/>
                </a:solidFill>
                <a:latin typeface="Noto Serif SC"/>
                <a:ea typeface="Noto Serif SC"/>
                <a:cs typeface="Noto Serif SC"/>
                <a:sym typeface="Noto Serif SC"/>
              </a:rPr>
              <a:t>数据来源：模拟财务数据 · 仅用于 PPT 解析测试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10160000" y="6553200"/>
            <a:ext cx="16256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4A3B8"/>
                </a:solidFill>
                <a:latin typeface="Noto Serif SC"/>
                <a:ea typeface="Noto Serif SC"/>
                <a:cs typeface="Noto Serif SC"/>
                <a:sym typeface="Noto Serif SC"/>
              </a:rPr>
              <a:t>02 / 05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812800"/>
          </a:xfrm>
          <a:prstGeom prst="roundRect">
            <a:avLst>
              <a:gd name="adj" fmla="val 0"/>
            </a:avLst>
          </a:prstGeom>
          <a:solidFill>
            <a:srgbClr val="0F1E3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0"/>
            <a:ext cx="101600" cy="812800"/>
          </a:xfrm>
          <a:prstGeom prst="roundRect">
            <a:avLst>
              <a:gd name="adj" fmla="val 0"/>
            </a:avLst>
          </a:prstGeom>
          <a:solidFill>
            <a:srgbClr val="F0813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406400" y="152400"/>
            <a:ext cx="762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光学成像原理与公式推导 · 公式测试页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06400" y="508000"/>
            <a:ext cx="762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B4C0D2"/>
                </a:solidFill>
                <a:latin typeface="Noto Serif SC"/>
                <a:ea typeface="Noto Serif SC"/>
                <a:cs typeface="Noto Serif SC"/>
                <a:sym typeface="Noto Serif SC"/>
              </a:rPr>
              <a:t>LaTeX 公式 · 积分 / 求和 / 矩阵 / 分式 / 希腊字母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0" y="279400"/>
            <a:ext cx="16256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DCE4F0"/>
                </a:solidFill>
                <a:latin typeface="Noto Serif SC"/>
                <a:ea typeface="Noto Serif SC"/>
                <a:cs typeface="Noto Serif SC"/>
                <a:sym typeface="Noto Serif SC"/>
              </a:rPr>
              <a:t>PAGE 03 / 05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06400" y="1066800"/>
            <a:ext cx="6604000" cy="5283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06400" y="1066800"/>
            <a:ext cx="6604000" cy="381000"/>
          </a:xfrm>
          <a:prstGeom prst="roundRect">
            <a:avLst>
              <a:gd name="adj" fmla="val 0"/>
            </a:avLst>
          </a:prstGeom>
          <a:solidFill>
            <a:srgbClr val="F0F4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09600" y="1130300"/>
            <a:ext cx="609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F1E3A"/>
                </a:solidFill>
                <a:latin typeface="Noto Serif SC"/>
                <a:ea typeface="Noto Serif SC"/>
                <a:cs typeface="Noto Serif SC"/>
                <a:sym typeface="Noto Serif SC"/>
              </a:rPr>
              <a:t>一、透镜成像公式推导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09600" y="1600200"/>
            <a:ext cx="61976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34155"/>
                </a:solidFill>
                <a:latin typeface="Noto Serif SC"/>
                <a:ea typeface="Noto Serif SC"/>
                <a:cs typeface="Noto Serif SC"/>
                <a:sym typeface="Noto Serif SC"/>
              </a:rPr>
              <a:t>薄透镜成像的基本公式（高斯形式）：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09600" y="2006600"/>
            <a:ext cx="6197600" cy="558800"/>
          </a:xfrm>
          <a:prstGeom prst="roundRect">
            <a:avLst>
              <a:gd name="adj" fmla="val 13636"/>
            </a:avLst>
          </a:prstGeom>
          <a:solidFill>
            <a:srgbClr val="F0F4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2082800"/>
            <a:ext cx="58928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0F1E3A"/>
                </a:solidFill>
                <a:latin typeface="Noto Serif SC"/>
                <a:ea typeface="Noto Serif SC"/>
                <a:cs typeface="Noto Serif SC"/>
                <a:sym typeface="Noto Serif SC"/>
              </a:rPr>
              <a:t>\frac{1}{f} = \frac{1}{u} + \frac{1}{v}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09600" y="2667000"/>
            <a:ext cx="61976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其中 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f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 为焦距，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u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 为物距，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v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 为像距。横向放大率：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09600" y="3022600"/>
            <a:ext cx="61976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0F1E3A"/>
                </a:solidFill>
                <a:latin typeface="Noto Serif SC"/>
                <a:ea typeface="Noto Serif SC"/>
                <a:cs typeface="Noto Serif SC"/>
                <a:sym typeface="Noto Serif SC"/>
              </a:rPr>
              <a:t>m = -\frac{v}{u} = \frac{f}{f - u}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09600" y="3505200"/>
            <a:ext cx="61976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34155"/>
                </a:solidFill>
                <a:latin typeface="Noto Serif SC"/>
                <a:ea typeface="Noto Serif SC"/>
                <a:cs typeface="Noto Serif SC"/>
                <a:sym typeface="Noto Serif SC"/>
              </a:rPr>
              <a:t>二、衍射极限与分辨率（瑞利判据）：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09600" y="3860800"/>
            <a:ext cx="6197600" cy="660400"/>
          </a:xfrm>
          <a:prstGeom prst="roundRect">
            <a:avLst>
              <a:gd name="adj" fmla="val 11538"/>
            </a:avLst>
          </a:prstGeom>
          <a:solidFill>
            <a:srgbClr val="F0F4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3937000"/>
            <a:ext cx="5892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0F1E3A"/>
                </a:solidFill>
                <a:latin typeface="Noto Serif SC"/>
                <a:ea typeface="Noto Serif SC"/>
                <a:cs typeface="Noto Serif SC"/>
                <a:sym typeface="Noto Serif SC"/>
              </a:rPr>
              <a:t>\theta = 1.22 \frac{\lambda}{D}, \quad \delta = \frac{0.61 \lambda}{NA}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09600" y="4622800"/>
            <a:ext cx="61976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34155"/>
                </a:solidFill>
                <a:latin typeface="Noto Serif SC"/>
                <a:ea typeface="Noto Serif SC"/>
                <a:cs typeface="Noto Serif SC"/>
                <a:sym typeface="Noto Serif SC"/>
              </a:rPr>
              <a:t>三、阿贝成像理论中的空间频率积分：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09600" y="4978400"/>
            <a:ext cx="6197600" cy="609600"/>
          </a:xfrm>
          <a:prstGeom prst="roundRect">
            <a:avLst>
              <a:gd name="adj" fmla="val 12500"/>
            </a:avLst>
          </a:prstGeom>
          <a:solidFill>
            <a:srgbClr val="F0F4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5054600"/>
            <a:ext cx="58928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0F1E3A"/>
                </a:solidFill>
                <a:latin typeface="Noto Serif SC"/>
                <a:ea typeface="Noto Serif SC"/>
                <a:cs typeface="Noto Serif SC"/>
                <a:sym typeface="Noto Serif SC"/>
              </a:rPr>
              <a:t>U(x_i, y_i) = \iint_{-\infty}^{+\infty} \tilde{U}(\xi, \eta) \, e^{i 2\pi (\xi x_i + \eta y_i)} \, d\xi \, d\eta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09600" y="5715000"/>
            <a:ext cx="61976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Noto Serif SC"/>
                <a:ea typeface="Noto Serif SC"/>
                <a:cs typeface="Noto Serif SC"/>
                <a:sym typeface="Noto Serif SC"/>
              </a:rPr>
              <a:t>式中 </a:t>
            </a:r>
            <a:r>
              <a:rPr lang="en-US" b="false" i="false" strike="noStrike" u="none" sz="1100">
                <a:solidFill>
                  <a:srgbClr val="64748B"/>
                </a:solidFill>
                <a:latin typeface="Noto Serif SC"/>
                <a:ea typeface="Noto Serif SC"/>
                <a:cs typeface="Noto Serif SC"/>
                <a:sym typeface="Noto Serif SC"/>
              </a:rPr>
              <a:t>\tilde{U}(\xi, \eta)</a:t>
            </a:r>
            <a:r>
              <a:rPr lang="en-US" b="false" i="false" strike="noStrike" u="none" sz="1100">
                <a:solidFill>
                  <a:srgbClr val="64748B"/>
                </a:solidFill>
                <a:latin typeface="Noto Serif SC"/>
                <a:ea typeface="Noto Serif SC"/>
                <a:cs typeface="Noto Serif SC"/>
                <a:sym typeface="Noto Serif SC"/>
              </a:rPr>
              <a:t> 为物的空间频谱，</a:t>
            </a:r>
            <a:r>
              <a:rPr lang="en-US" b="false" i="false" strike="noStrike" u="none" sz="1100">
                <a:solidFill>
                  <a:srgbClr val="64748B"/>
                </a:solidFill>
                <a:latin typeface="Noto Serif SC"/>
                <a:ea typeface="Noto Serif SC"/>
                <a:cs typeface="Noto Serif SC"/>
                <a:sym typeface="Noto Serif SC"/>
              </a:rPr>
              <a:t>\xi, \eta</a:t>
            </a:r>
            <a:r>
              <a:rPr lang="en-US" b="false" i="false" strike="noStrike" u="none" sz="1100">
                <a:solidFill>
                  <a:srgbClr val="64748B"/>
                </a:solidFill>
                <a:latin typeface="Noto Serif SC"/>
                <a:ea typeface="Noto Serif SC"/>
                <a:cs typeface="Noto Serif SC"/>
                <a:sym typeface="Noto Serif SC"/>
              </a:rPr>
              <a:t> 为空间频率分量。该式表明像面复振幅是物频谱的逆傅里叶变换。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264400" y="1066800"/>
            <a:ext cx="45212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264400" y="1066800"/>
            <a:ext cx="4521200" cy="381000"/>
          </a:xfrm>
          <a:prstGeom prst="roundRect">
            <a:avLst>
              <a:gd name="adj" fmla="val 0"/>
            </a:avLst>
          </a:prstGeom>
          <a:solidFill>
            <a:srgbClr val="F0F4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467600" y="1130300"/>
            <a:ext cx="41148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F1E3A"/>
                </a:solidFill>
                <a:latin typeface="Noto Serif SC"/>
                <a:ea typeface="Noto Serif SC"/>
                <a:cs typeface="Noto Serif SC"/>
                <a:sym typeface="Noto Serif SC"/>
              </a:rPr>
              <a:t>实验设备 · 三目生物显微镜</a:t>
            </a:r>
            <a:endParaRPr lang="en-US" sz="1100"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2"/>
          <a:srcRect l="0" r="0" t="22222" b="22222"/>
          <a:stretch>
            <a:fillRect/>
          </a:stretch>
        </p:blipFill>
        <p:spPr>
          <a:xfrm rot="0" flipH="false" flipV="false">
            <a:off x="7467600" y="1549400"/>
            <a:ext cx="4114800" cy="2286000"/>
          </a:xfrm>
          <a:prstGeom prst="roundRect">
            <a:avLst>
              <a:gd name="adj" fmla="val 4444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6" id="26"/>
          <p:cNvSpPr/>
          <p:nvPr/>
        </p:nvSpPr>
        <p:spPr>
          <a:xfrm rot="0" flipH="false" flipV="false">
            <a:off x="7264400" y="4318000"/>
            <a:ext cx="4521200" cy="2032000"/>
          </a:xfrm>
          <a:prstGeom prst="roundRect">
            <a:avLst>
              <a:gd name="adj" fmla="val 0"/>
            </a:avLst>
          </a:prstGeom>
          <a:solidFill>
            <a:srgbClr val="0F1E3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264400" y="4318000"/>
            <a:ext cx="4521200" cy="50800"/>
          </a:xfrm>
          <a:prstGeom prst="roundRect">
            <a:avLst>
              <a:gd name="adj" fmla="val 0"/>
            </a:avLst>
          </a:prstGeom>
          <a:solidFill>
            <a:srgbClr val="F0813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467600" y="4521200"/>
            <a:ext cx="41148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08136"/>
                </a:solidFill>
                <a:latin typeface="Noto Serif SC"/>
                <a:ea typeface="Noto Serif SC"/>
                <a:cs typeface="Noto Serif SC"/>
                <a:sym typeface="Noto Serif SC"/>
              </a:rPr>
              <a:t>关键参数矩阵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467600" y="4851400"/>
            <a:ext cx="41148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100">
                <a:solidFill>
                  <a:srgbClr val="DCE4F0"/>
                </a:solidFill>
                <a:latin typeface="Noto Serif SC"/>
                <a:ea typeface="Noto Serif SC"/>
                <a:cs typeface="Noto Serif SC"/>
                <a:sym typeface="Noto Serif SC"/>
              </a:rPr>
              <a:t>· 放大倍率：40X - 1600X 连续可调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100">
                <a:solidFill>
                  <a:srgbClr val="DCE4F0"/>
                </a:solidFill>
                <a:latin typeface="Noto Serif SC"/>
                <a:ea typeface="Noto Serif SC"/>
                <a:cs typeface="Noto Serif SC"/>
                <a:sym typeface="Noto Serif SC"/>
              </a:rPr>
              <a:t>· 数值孔径 NA：0.65（消色差物镜）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100">
                <a:solidFill>
                  <a:srgbClr val="DCE4F0"/>
                </a:solidFill>
                <a:latin typeface="Noto Serif SC"/>
                <a:ea typeface="Noto Serif SC"/>
                <a:cs typeface="Noto Serif SC"/>
                <a:sym typeface="Noto Serif SC"/>
              </a:rPr>
              <a:t>· 分辨率 </a:t>
            </a:r>
            <a:r>
              <a:rPr lang="en-US" b="false" i="false" strike="noStrike" u="none" sz="1100">
                <a:solidFill>
                  <a:srgbClr val="DCE4F0"/>
                </a:solidFill>
                <a:latin typeface="Noto Serif SC"/>
                <a:ea typeface="Noto Serif SC"/>
                <a:cs typeface="Noto Serif SC"/>
                <a:sym typeface="Noto Serif SC"/>
              </a:rPr>
              <a:t>\delta</a:t>
            </a:r>
            <a:r>
              <a:rPr lang="en-US" b="false" i="false" strike="noStrike" u="none" sz="1100">
                <a:solidFill>
                  <a:srgbClr val="DCE4F0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：约 0.42 μm（λ=550nm）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100">
                <a:solidFill>
                  <a:srgbClr val="DCE4F0"/>
                </a:solidFill>
                <a:latin typeface="Noto Serif SC"/>
                <a:ea typeface="Noto Serif SC"/>
                <a:cs typeface="Noto Serif SC"/>
                <a:sym typeface="Noto Serif SC"/>
              </a:rPr>
              <a:t>· 视场直径：22 mm（WF10X 目镜）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100">
                <a:solidFill>
                  <a:srgbClr val="DCE4F0"/>
                </a:solidFill>
                <a:latin typeface="Noto Serif SC"/>
                <a:ea typeface="Noto Serif SC"/>
                <a:cs typeface="Noto Serif SC"/>
                <a:sym typeface="Noto Serif SC"/>
              </a:rPr>
              <a:t>· 照明方式：柯勒照明，LED 冷光源</a:t>
            </a:r>
          </a:p>
        </p:txBody>
      </p:sp>
      <p:cxnSp>
        <p:nvCxnSpPr>
          <p:cNvPr name="Connector 30" id="30"/>
          <p:cNvCxnSpPr/>
          <p:nvPr/>
        </p:nvCxnSpPr>
        <p:spPr>
          <a:xfrm rot="-3836" flipH="false" flipV="false">
            <a:off x="406404" y="6470650"/>
            <a:ext cx="11379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1" id="31"/>
          <p:cNvSpPr/>
          <p:nvPr/>
        </p:nvSpPr>
        <p:spPr>
          <a:xfrm rot="0" flipH="false" flipV="false">
            <a:off x="406400" y="6553200"/>
            <a:ext cx="635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4A3B8"/>
                </a:solidFill>
                <a:latin typeface="Noto Serif SC"/>
                <a:ea typeface="Noto Serif SC"/>
                <a:cs typeface="Noto Serif SC"/>
                <a:sym typeface="Noto Serif SC"/>
              </a:rPr>
              <a:t>公式参考：《光学原理》Born &amp; Wolf · 设备参数为模拟值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10160000" y="6553200"/>
            <a:ext cx="16256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4A3B8"/>
                </a:solidFill>
                <a:latin typeface="Noto Serif SC"/>
                <a:ea typeface="Noto Serif SC"/>
                <a:cs typeface="Noto Serif SC"/>
                <a:sym typeface="Noto Serif SC"/>
              </a:rPr>
              <a:t>03 / 05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812800"/>
          </a:xfrm>
          <a:prstGeom prst="roundRect">
            <a:avLst>
              <a:gd name="adj" fmla="val 0"/>
            </a:avLst>
          </a:prstGeom>
          <a:solidFill>
            <a:srgbClr val="0F1E3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0"/>
            <a:ext cx="101600" cy="812800"/>
          </a:xfrm>
          <a:prstGeom prst="roundRect">
            <a:avLst>
              <a:gd name="adj" fmla="val 0"/>
            </a:avLst>
          </a:prstGeom>
          <a:solidFill>
            <a:srgbClr val="F0813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406400" y="152400"/>
            <a:ext cx="762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产品竞争力全景分析 · 多元素混合测试页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06400" y="508000"/>
            <a:ext cx="762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B4C0D2"/>
                </a:solidFill>
                <a:latin typeface="Noto Serif SC"/>
                <a:ea typeface="Noto Serif SC"/>
                <a:cs typeface="Noto Serif SC"/>
                <a:sym typeface="Noto Serif SC"/>
              </a:rPr>
              <a:t>环形图 · 雷达图 · 原生表格 · 图标 · 列表 · 形状装饰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0" y="279400"/>
            <a:ext cx="16256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DCE4F0"/>
                </a:solidFill>
                <a:latin typeface="Noto Serif SC"/>
                <a:ea typeface="Noto Serif SC"/>
                <a:cs typeface="Noto Serif SC"/>
                <a:sym typeface="Noto Serif SC"/>
              </a:rPr>
              <a:t>PAGE 04 / 05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06400" y="1066800"/>
            <a:ext cx="3683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06400" y="1066800"/>
            <a:ext cx="3683000" cy="355600"/>
          </a:xfrm>
          <a:prstGeom prst="roundRect">
            <a:avLst>
              <a:gd name="adj" fmla="val 0"/>
            </a:avLst>
          </a:prstGeom>
          <a:solidFill>
            <a:srgbClr val="F0F4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58800" y="1117600"/>
            <a:ext cx="3378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0F1E3A"/>
                </a:solidFill>
                <a:latin typeface="Noto Serif SC"/>
                <a:ea typeface="Noto Serif SC"/>
                <a:cs typeface="Noto Serif SC"/>
                <a:sym typeface="Noto Serif SC"/>
              </a:rPr>
              <a:t>收入结构占比（环形图）</a:t>
            </a:r>
            <a:endParaRPr lang="en-US" sz="1100"/>
          </a:p>
        </p:txBody>
      </p:sp>
      <p:graphicFrame>
        <p:nvGraphicFramePr>
          <p:cNvPr id="10" name="Chart 10"/>
          <p:cNvGraphicFramePr>
            <a:graphicFrameLocks noGrp="1"/>
          </p:cNvGraphicFramePr>
          <p:nvPr/>
        </p:nvGraphicFramePr>
        <p:xfrm>
          <a:off x="533400" y="1498600"/>
          <a:ext cx="34290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name="AutoShape 10" id="10"/>
          <p:cNvSpPr/>
          <p:nvPr/>
        </p:nvSpPr>
        <p:spPr>
          <a:xfrm rot="0" flipH="false" flipV="false">
            <a:off x="4292600" y="1066800"/>
            <a:ext cx="3683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292600" y="1066800"/>
            <a:ext cx="3683000" cy="355600"/>
          </a:xfrm>
          <a:prstGeom prst="roundRect">
            <a:avLst>
              <a:gd name="adj" fmla="val 0"/>
            </a:avLst>
          </a:prstGeom>
          <a:solidFill>
            <a:srgbClr val="F0F4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445000" y="1117600"/>
            <a:ext cx="3378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0F1E3A"/>
                </a:solidFill>
                <a:latin typeface="Noto Serif SC"/>
                <a:ea typeface="Noto Serif SC"/>
                <a:cs typeface="Noto Serif SC"/>
                <a:sym typeface="Noto Serif SC"/>
              </a:rPr>
              <a:t>产品能力多维对比（雷达图）</a:t>
            </a:r>
            <a:endParaRPr lang="en-US" sz="1100"/>
          </a:p>
        </p:txBody>
      </p:sp>
      <p:graphicFrame>
        <p:nvGraphicFramePr>
          <p:cNvPr id="13" name="Chart 13"/>
          <p:cNvGraphicFramePr>
            <a:graphicFrameLocks noGrp="1"/>
          </p:cNvGraphicFramePr>
          <p:nvPr/>
        </p:nvGraphicFramePr>
        <p:xfrm>
          <a:off x="4419600" y="1498600"/>
          <a:ext cx="3429000" cy="228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name="AutoShape 13" id="13"/>
          <p:cNvSpPr/>
          <p:nvPr/>
        </p:nvSpPr>
        <p:spPr>
          <a:xfrm rot="0" flipH="false" flipV="false">
            <a:off x="8178800" y="1066800"/>
            <a:ext cx="36068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78800" y="1066800"/>
            <a:ext cx="3606800" cy="355600"/>
          </a:xfrm>
          <a:prstGeom prst="roundRect">
            <a:avLst>
              <a:gd name="adj" fmla="val 0"/>
            </a:avLst>
          </a:prstGeom>
          <a:solidFill>
            <a:srgbClr val="F0F4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31200" y="1117600"/>
            <a:ext cx="330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0F1E3A"/>
                </a:solidFill>
                <a:latin typeface="Noto Serif SC"/>
                <a:ea typeface="Noto Serif SC"/>
                <a:cs typeface="Noto Serif SC"/>
                <a:sym typeface="Noto Serif SC"/>
              </a:rPr>
              <a:t>核心技术规格对比</a:t>
            </a:r>
            <a:endParaRPr lang="en-US" sz="1100"/>
          </a:p>
        </p:txBody>
      </p:sp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8280400" y="1524000"/>
          <a:ext cx="3403600" cy="2260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016000"/>
                <a:gridCol w="1193800"/>
                <a:gridCol w="1193800"/>
              </a:tblGrid>
              <a:tr h="3048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参数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E3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本产品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E3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竞品 A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E3A">
                        <a:alpha val="100000"/>
                      </a:srgbClr>
                    </a:solidFill>
                  </a:tcPr>
                </a:tc>
              </a:tr>
              <a:tr h="279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光学倍率</a:t>
                      </a:r>
                      <a:endParaRPr lang="en-US" sz="1100"/>
                    </a:p>
                  </a:txBody>
                  <a:tcPr anchor="ctr" anchorCtr="false" marL="101600" marR="101600" marT="69850" marB="698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40-1600X</a:t>
                      </a:r>
                      <a:endParaRPr lang="en-US" sz="1100"/>
                    </a:p>
                  </a:txBody>
                  <a:tcPr anchor="ctr" anchorCtr="false" marL="101600" marR="101600" marT="69850" marB="698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40-1000X</a:t>
                      </a:r>
                      <a:endParaRPr lang="en-US" sz="1100"/>
                    </a:p>
                  </a:txBody>
                  <a:tcPr anchor="ctr" anchorCtr="false" marL="101600" marR="101600" marT="69850" marB="698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9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数值孔径</a:t>
                      </a:r>
                      <a:endParaRPr lang="en-US" sz="1100"/>
                    </a:p>
                  </a:txBody>
                  <a:tcPr anchor="ctr" anchorCtr="false" marL="101600" marR="101600" marT="69850" marB="698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0.65</a:t>
                      </a:r>
                      <a:endParaRPr lang="en-US" sz="1100"/>
                    </a:p>
                  </a:txBody>
                  <a:tcPr anchor="ctr" anchorCtr="false" marL="101600" marR="101600" marT="69850" marB="698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0.55</a:t>
                      </a:r>
                      <a:endParaRPr lang="en-US" sz="1100"/>
                    </a:p>
                  </a:txBody>
                  <a:tcPr anchor="ctr" anchorCtr="false" marL="101600" marR="101600" marT="69850" marB="698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9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分辨率</a:t>
                      </a:r>
                      <a:endParaRPr lang="en-US" sz="1100"/>
                    </a:p>
                  </a:txBody>
                  <a:tcPr anchor="ctr" anchorCtr="false" marL="101600" marR="101600" marT="69850" marB="698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0.42 μm</a:t>
                      </a:r>
                      <a:endParaRPr lang="en-US" sz="1100"/>
                    </a:p>
                  </a:txBody>
                  <a:tcPr anchor="ctr" anchorCtr="false" marL="101600" marR="101600" marT="69850" marB="698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0.50 μm</a:t>
                      </a:r>
                      <a:endParaRPr lang="en-US" sz="1100"/>
                    </a:p>
                  </a:txBody>
                  <a:tcPr anchor="ctr" anchorCtr="false" marL="101600" marR="101600" marT="69850" marB="698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9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照明方式</a:t>
                      </a:r>
                      <a:endParaRPr lang="en-US" sz="1100"/>
                    </a:p>
                  </a:txBody>
                  <a:tcPr anchor="ctr" anchorCtr="false" marL="101600" marR="101600" marT="69850" marB="698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LED 柯勒</a:t>
                      </a:r>
                      <a:endParaRPr lang="en-US" sz="1100"/>
                    </a:p>
                  </a:txBody>
                  <a:tcPr anchor="ctr" anchorCtr="false" marL="101600" marR="101600" marT="69850" marB="698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卤素灯</a:t>
                      </a:r>
                      <a:endParaRPr lang="en-US" sz="1100"/>
                    </a:p>
                  </a:txBody>
                  <a:tcPr anchor="ctr" anchorCtr="false" marL="101600" marR="101600" marT="69850" marB="698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9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数码接口</a:t>
                      </a:r>
                      <a:endParaRPr lang="en-US" sz="1100"/>
                    </a:p>
                  </a:txBody>
                  <a:tcPr anchor="ctr" anchorCtr="false" marL="101600" marR="101600" marT="69850" marB="698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USB 3.0</a:t>
                      </a:r>
                      <a:endParaRPr lang="en-US" sz="1100"/>
                    </a:p>
                  </a:txBody>
                  <a:tcPr anchor="ctr" anchorCtr="false" marL="101600" marR="101600" marT="69850" marB="698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USB 2.0</a:t>
                      </a:r>
                      <a:endParaRPr lang="en-US" sz="1100"/>
                    </a:p>
                  </a:txBody>
                  <a:tcPr anchor="ctr" anchorCtr="false" marL="101600" marR="101600" marT="69850" marB="698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9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重量</a:t>
                      </a:r>
                      <a:endParaRPr lang="en-US" sz="1100"/>
                    </a:p>
                  </a:txBody>
                  <a:tcPr anchor="ctr" anchorCtr="false" marL="101600" marR="101600" marT="69850" marB="698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6.8 kg</a:t>
                      </a:r>
                      <a:endParaRPr lang="en-US" sz="1100"/>
                    </a:p>
                  </a:txBody>
                  <a:tcPr anchor="ctr" anchorCtr="false" marL="101600" marR="101600" marT="69850" marB="698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7.5 kg</a:t>
                      </a:r>
                      <a:endParaRPr lang="en-US" sz="1100"/>
                    </a:p>
                  </a:txBody>
                  <a:tcPr anchor="ctr" anchorCtr="false" marL="101600" marR="101600" marT="69850" marB="698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9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参考价格</a:t>
                      </a:r>
                      <a:endParaRPr lang="en-US" sz="1100"/>
                    </a:p>
                  </a:txBody>
                  <a:tcPr anchor="ctr" anchorCtr="false" marL="101600" marR="101600" marT="69850" marB="698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388E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¥8,800</a:t>
                      </a:r>
                      <a:endParaRPr lang="en-US" sz="1100"/>
                    </a:p>
                  </a:txBody>
                  <a:tcPr anchor="ctr" anchorCtr="false" marL="101600" marR="101600" marT="69850" marB="698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¥12,500</a:t>
                      </a:r>
                      <a:endParaRPr lang="en-US" sz="1100"/>
                    </a:p>
                  </a:txBody>
                  <a:tcPr anchor="ctr" anchorCtr="false" marL="101600" marR="101600" marT="69850" marB="698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17" id="17"/>
          <p:cNvSpPr/>
          <p:nvPr/>
        </p:nvSpPr>
        <p:spPr>
          <a:xfrm rot="0" flipH="false" flipV="false">
            <a:off x="406400" y="4064000"/>
            <a:ext cx="11379200" cy="2235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06400" y="4064000"/>
            <a:ext cx="11379200" cy="355600"/>
          </a:xfrm>
          <a:prstGeom prst="roundRect">
            <a:avLst>
              <a:gd name="adj" fmla="val 0"/>
            </a:avLst>
          </a:prstGeom>
          <a:solidFill>
            <a:srgbClr val="F0F4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58800" y="41148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0F1E3A"/>
                </a:solidFill>
                <a:latin typeface="Noto Serif SC"/>
                <a:ea typeface="Noto Serif SC"/>
                <a:cs typeface="Noto Serif SC"/>
                <a:sym typeface="Noto Serif SC"/>
              </a:rPr>
              <a:t>四大核心优势 · 图标 + 文字列表</a:t>
            </a:r>
            <a:endParaRPr lang="en-US" sz="1100"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11200" y="4673600"/>
            <a:ext cx="355600" cy="3556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1219200" y="4597400"/>
            <a:ext cx="228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F1E3A"/>
                </a:solidFill>
                <a:latin typeface="Noto Serif SC"/>
                <a:ea typeface="Noto Serif SC"/>
                <a:cs typeface="Noto Serif SC"/>
                <a:sym typeface="Noto Serif SC"/>
              </a:rPr>
              <a:t>高精度成像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219200" y="4902200"/>
            <a:ext cx="228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消色差物镜组合，NA 0.65，分辨率达 0.42μm，满足亚细胞级观察需求。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3759200" y="4673600"/>
            <a:ext cx="355600" cy="3556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4267200" y="4597400"/>
            <a:ext cx="228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F1E3A"/>
                </a:solidFill>
                <a:latin typeface="Noto Serif SC"/>
                <a:ea typeface="Noto Serif SC"/>
                <a:cs typeface="Noto Serif SC"/>
                <a:sym typeface="Noto Serif SC"/>
              </a:rPr>
              <a:t>稳定可靠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267200" y="4902200"/>
            <a:ext cx="228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全金属机架结构，抗震设计，连续运行 5000 小时无故障，MTBF 行业领先。</a:t>
            </a:r>
            <a:endParaRPr lang="en-US" sz="1100"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807200" y="4673600"/>
            <a:ext cx="355600" cy="3556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7315200" y="4597400"/>
            <a:ext cx="228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F1E3A"/>
                </a:solidFill>
                <a:latin typeface="Noto Serif SC"/>
                <a:ea typeface="Noto Serif SC"/>
                <a:cs typeface="Noto Serif SC"/>
                <a:sym typeface="Noto Serif SC"/>
              </a:rPr>
              <a:t>灵活扩展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315200" y="4902200"/>
            <a:ext cx="228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支持荧光、暗场、偏光等多种附件模块，C 接口兼容主流工业相机。</a:t>
            </a:r>
            <a:endParaRPr lang="en-US" sz="1100"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9855200" y="4673600"/>
            <a:ext cx="355600" cy="3556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10363200" y="4597400"/>
            <a:ext cx="127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F1E3A"/>
                </a:solidFill>
                <a:latin typeface="Noto Serif SC"/>
                <a:ea typeface="Noto Serif SC"/>
                <a:cs typeface="Noto Serif SC"/>
                <a:sym typeface="Noto Serif SC"/>
              </a:rPr>
              <a:t>智能软件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10363200" y="4902200"/>
            <a:ext cx="127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内置 AI 图像增强，支持自动对焦与多帧叠加降噪。</a:t>
            </a:r>
            <a:endParaRPr lang="en-US" sz="1100"/>
          </a:p>
        </p:txBody>
      </p:sp>
      <p:cxnSp>
        <p:nvCxnSpPr>
          <p:cNvPr name="Connector 32" id="32"/>
          <p:cNvCxnSpPr/>
          <p:nvPr/>
        </p:nvCxnSpPr>
        <p:spPr>
          <a:xfrm rot="-4053" flipH="false" flipV="false">
            <a:off x="711204" y="56832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33" id="33"/>
          <p:cNvSpPr/>
          <p:nvPr/>
        </p:nvSpPr>
        <p:spPr>
          <a:xfrm rot="0" flipH="false" flipV="false">
            <a:off x="711200" y="5816600"/>
            <a:ext cx="10972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64748B"/>
                </a:solidFill>
                <a:latin typeface="Noto Serif SC"/>
                <a:ea typeface="Noto Serif SC"/>
                <a:cs typeface="Noto Serif SC"/>
                <a:sym typeface="Noto Serif SC"/>
              </a:rPr>
              <a:t>综合评价：</a:t>
            </a:r>
            <a:r>
              <a:rPr lang="en-US" b="false" i="false" strike="noStrike" u="none" sz="1100">
                <a:solidFill>
                  <a:srgbClr val="64748B"/>
                </a:solidFill>
                <a:latin typeface="Noto Serif SC"/>
                <a:ea typeface="Noto Serif SC"/>
                <a:cs typeface="Noto Serif SC"/>
                <a:sym typeface="Noto Serif SC"/>
              </a:rPr>
              <a:t>本产品在分辨率、稳定性和性价比三个维度均优于竞品 A，尤其在光学倍率范围（1600X vs 1000X）和数码接口规格（USB 3.0 vs 2.0）上具有代际优势，建议作为中端实验室首选配置。</a:t>
            </a:r>
            <a:endParaRPr lang="en-US" sz="1100"/>
          </a:p>
        </p:txBody>
      </p:sp>
      <p:cxnSp>
        <p:nvCxnSpPr>
          <p:cNvPr name="Connector 34" id="34"/>
          <p:cNvCxnSpPr/>
          <p:nvPr/>
        </p:nvCxnSpPr>
        <p:spPr>
          <a:xfrm rot="-3836" flipH="false" flipV="false">
            <a:off x="406404" y="6470650"/>
            <a:ext cx="11379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5" id="35"/>
          <p:cNvSpPr/>
          <p:nvPr/>
        </p:nvSpPr>
        <p:spPr>
          <a:xfrm rot="0" flipH="false" flipV="false">
            <a:off x="406400" y="6553200"/>
            <a:ext cx="635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4A3B8"/>
                </a:solidFill>
                <a:latin typeface="Noto Serif SC"/>
                <a:ea typeface="Noto Serif SC"/>
                <a:cs typeface="Noto Serif SC"/>
                <a:sym typeface="Noto Serif SC"/>
              </a:rPr>
              <a:t>数据来源：第三方实验室评测报告 · 2026 年 Q2 · 数据为模拟值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10160000" y="6553200"/>
            <a:ext cx="16256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4A3B8"/>
                </a:solidFill>
                <a:latin typeface="Noto Serif SC"/>
                <a:ea typeface="Noto Serif SC"/>
                <a:cs typeface="Noto Serif SC"/>
                <a:sym typeface="Noto Serif SC"/>
              </a:rPr>
              <a:t>04 / 05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812800"/>
          </a:xfrm>
          <a:prstGeom prst="roundRect">
            <a:avLst>
              <a:gd name="adj" fmla="val 0"/>
            </a:avLst>
          </a:prstGeom>
          <a:solidFill>
            <a:srgbClr val="0F1E3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0"/>
            <a:ext cx="101600" cy="812800"/>
          </a:xfrm>
          <a:prstGeom prst="roundRect">
            <a:avLst>
              <a:gd name="adj" fmla="val 0"/>
            </a:avLst>
          </a:prstGeom>
          <a:solidFill>
            <a:srgbClr val="F0813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406400" y="152400"/>
            <a:ext cx="762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总结与展望 · 收尾测试页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06400" y="508000"/>
            <a:ext cx="762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B4C0D2"/>
                </a:solidFill>
                <a:latin typeface="Noto Serif SC"/>
                <a:ea typeface="Noto Serif SC"/>
                <a:cs typeface="Noto Serif SC"/>
                <a:sym typeface="Noto Serif SC"/>
              </a:rPr>
              <a:t>堆叠面积图 · 有序列表 · 引用块 · 超链接 · 联系方式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0" y="279400"/>
            <a:ext cx="16256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DCE4F0"/>
                </a:solidFill>
                <a:latin typeface="Noto Serif SC"/>
                <a:ea typeface="Noto Serif SC"/>
                <a:cs typeface="Noto Serif SC"/>
                <a:sym typeface="Noto Serif SC"/>
              </a:rPr>
              <a:t>PAGE 05 / 05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06400" y="1066800"/>
            <a:ext cx="5588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06400" y="1066800"/>
            <a:ext cx="5588000" cy="355600"/>
          </a:xfrm>
          <a:prstGeom prst="roundRect">
            <a:avLst>
              <a:gd name="adj" fmla="val 0"/>
            </a:avLst>
          </a:prstGeom>
          <a:solidFill>
            <a:srgbClr val="F0F4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58800" y="1117600"/>
            <a:ext cx="5283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0F1E3A"/>
                </a:solidFill>
                <a:latin typeface="Noto Serif SC"/>
                <a:ea typeface="Noto Serif SC"/>
                <a:cs typeface="Noto Serif SC"/>
                <a:sym typeface="Noto Serif SC"/>
              </a:rPr>
              <a:t>六年营收结构演进（堆叠面积图）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596900" y="1524000"/>
            <a:ext cx="5207000" cy="2768600"/>
          </a:xfrm>
          <a:prstGeom prst="rect">
            <a:avLst/>
          </a:prstGeom>
          <a:solidFill>
            <a:srgbClr val="DEE0E3">
              <a:alpha val="100000"/>
            </a:srgbClr>
          </a:solidFill>
          <a:ln w="12700">
            <a:noFill/>
            <a:prstDash val="solid"/>
          </a:ln>
        </p:spPr>
      </p:pic>
      <p:sp>
        <p:nvSpPr>
          <p:cNvPr name="AutoShape 11" id="11"/>
          <p:cNvSpPr/>
          <p:nvPr/>
        </p:nvSpPr>
        <p:spPr>
          <a:xfrm rot="0" flipH="false" flipV="false">
            <a:off x="6248400" y="1066800"/>
            <a:ext cx="5537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48400" y="1066800"/>
            <a:ext cx="5537200" cy="355600"/>
          </a:xfrm>
          <a:prstGeom prst="roundRect">
            <a:avLst>
              <a:gd name="adj" fmla="val 0"/>
            </a:avLst>
          </a:prstGeom>
          <a:solidFill>
            <a:srgbClr val="F0F4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00800" y="1117600"/>
            <a:ext cx="52324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0F1E3A"/>
                </a:solidFill>
                <a:latin typeface="Noto Serif SC"/>
                <a:ea typeface="Noto Serif SC"/>
                <a:cs typeface="Noto Serif SC"/>
                <a:sym typeface="Noto Serif SC"/>
              </a:rPr>
              <a:t>核心结论与行动建议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51600" y="1549400"/>
            <a:ext cx="5130800" cy="266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52400" marL="152400">
              <a:lnSpc>
                <a:spcPct val="141666"/>
              </a:lnSpc>
              <a:buClr>
                <a:srgbClr val="334155"/>
              </a:buClr>
              <a:buFont typeface="+mj-lt"/>
              <a:buAutoNum type="arabicPeriod" startAt="1"/>
              <a:defRPr/>
            </a:pPr>
            <a:r>
              <a:rPr lang="en-US" b="true" i="false" strike="noStrike" u="none" sz="1200">
                <a:solidFill>
                  <a:srgbClr val="334155"/>
                </a:solidFill>
                <a:latin typeface="Noto Serif SC"/>
                <a:ea typeface="Noto Serif SC"/>
                <a:cs typeface="Noto Serif SC"/>
                <a:sym typeface="Noto Serif SC"/>
              </a:rPr>
              <a:t>营收规模持续扩大：</a:t>
            </a:r>
            <a:r>
              <a:rPr lang="en-US" b="false" i="false" strike="noStrike" u="none" sz="1200">
                <a:solidFill>
                  <a:srgbClr val="334155"/>
                </a:solidFill>
                <a:latin typeface="Noto Serif SC"/>
                <a:ea typeface="Noto Serif SC"/>
                <a:cs typeface="Noto Serif SC"/>
                <a:sym typeface="Noto Serif SC"/>
              </a:rPr>
              <a:t>2025 年总营收突破 530 亿元，六年 CAGR 达 24.8%，软件服务占比从 23% 提升至 32%。</a:t>
            </a:r>
            <a:endParaRPr lang="en-US" sz="1100"/>
          </a:p>
          <a:p>
            <a:pPr algn="l" indent="-152400" marL="152400">
              <a:lnSpc>
                <a:spcPct val="141666"/>
              </a:lnSpc>
              <a:buClr>
                <a:srgbClr val="334155"/>
              </a:buClr>
              <a:buFont typeface="+mj-lt"/>
              <a:buAutoNum type="arabicPeriod" startAt="1"/>
            </a:pPr>
            <a:r>
              <a:rPr lang="en-US" b="true" i="false" strike="noStrike" u="none" sz="1200">
                <a:solidFill>
                  <a:srgbClr val="334155"/>
                </a:solidFill>
                <a:latin typeface="Noto Serif SC"/>
                <a:ea typeface="Noto Serif SC"/>
                <a:cs typeface="Noto Serif SC"/>
                <a:sym typeface="Noto Serif SC"/>
              </a:rPr>
              <a:t>产品竞争力领先：</a:t>
            </a:r>
            <a:r>
              <a:rPr lang="en-US" b="false" i="false" strike="noStrike" u="none" sz="1200">
                <a:solidFill>
                  <a:srgbClr val="334155"/>
                </a:solidFill>
                <a:latin typeface="Noto Serif SC"/>
                <a:ea typeface="Noto Serif SC"/>
                <a:cs typeface="Noto Serif SC"/>
                <a:sym typeface="Noto Serif SC"/>
              </a:rPr>
              <a:t>在分辨率、稳定性、扩展性三维度均优于主要竞品，性价比优势显著。</a:t>
            </a:r>
          </a:p>
          <a:p>
            <a:pPr algn="l" indent="-152400" marL="152400">
              <a:lnSpc>
                <a:spcPct val="141666"/>
              </a:lnSpc>
              <a:buClr>
                <a:srgbClr val="334155"/>
              </a:buClr>
              <a:buFont typeface="+mj-lt"/>
              <a:buAutoNum type="arabicPeriod" startAt="1"/>
            </a:pPr>
            <a:r>
              <a:rPr lang="en-US" b="true" i="false" strike="noStrike" u="none" sz="1200">
                <a:solidFill>
                  <a:srgbClr val="334155"/>
                </a:solidFill>
                <a:latin typeface="Noto Serif SC"/>
                <a:ea typeface="Noto Serif SC"/>
                <a:cs typeface="Noto Serif SC"/>
                <a:sym typeface="Noto Serif SC"/>
              </a:rPr>
              <a:t>研发投入保持高位：</a:t>
            </a:r>
            <a:r>
              <a:rPr lang="en-US" b="false" i="false" strike="noStrike" u="none" sz="1200">
                <a:solidFill>
                  <a:srgbClr val="334155"/>
                </a:solidFill>
                <a:latin typeface="Noto Serif SC"/>
                <a:ea typeface="Noto Serif SC"/>
                <a:cs typeface="Noto Serif SC"/>
                <a:sym typeface="Noto Serif SC"/>
              </a:rPr>
              <a:t>研发费用率连续五年超过 15%，为技术迭代和新品类拓展奠定基础。</a:t>
            </a:r>
          </a:p>
          <a:p>
            <a:pPr algn="l" indent="-152400" marL="152400">
              <a:lnSpc>
                <a:spcPct val="141666"/>
              </a:lnSpc>
              <a:buClr>
                <a:srgbClr val="334155"/>
              </a:buClr>
              <a:buFont typeface="+mj-lt"/>
              <a:buAutoNum type="arabicPeriod" startAt="1"/>
            </a:pPr>
            <a:r>
              <a:rPr lang="en-US" b="true" i="false" strike="noStrike" u="none" sz="1200">
                <a:solidFill>
                  <a:srgbClr val="334155"/>
                </a:solidFill>
                <a:latin typeface="Noto Serif SC"/>
                <a:ea typeface="Noto Serif SC"/>
                <a:cs typeface="Noto Serif SC"/>
                <a:sym typeface="Noto Serif SC"/>
              </a:rPr>
              <a:t>风险提示：</a:t>
            </a:r>
            <a:r>
              <a:rPr lang="en-US" b="false" i="false" strike="noStrike" u="none" sz="1200">
                <a:solidFill>
                  <a:srgbClr val="334155"/>
                </a:solidFill>
                <a:latin typeface="Noto Serif SC"/>
                <a:ea typeface="Noto Serif SC"/>
                <a:cs typeface="Noto Serif SC"/>
                <a:sym typeface="Noto Serif SC"/>
              </a:rPr>
              <a:t>25Q4 增速首次回落，高基数效应下 2026 年需关注亚太区库存周期与价格竞争。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06400" y="4572000"/>
            <a:ext cx="11379200" cy="1270000"/>
          </a:xfrm>
          <a:prstGeom prst="roundRect">
            <a:avLst>
              <a:gd name="adj" fmla="val 0"/>
            </a:avLst>
          </a:prstGeom>
          <a:solidFill>
            <a:srgbClr val="0F1E3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06400" y="4572000"/>
            <a:ext cx="76200" cy="1270000"/>
          </a:xfrm>
          <a:prstGeom prst="roundRect">
            <a:avLst>
              <a:gd name="adj" fmla="val 0"/>
            </a:avLst>
          </a:prstGeom>
          <a:solidFill>
            <a:srgbClr val="F0813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775200"/>
            <a:ext cx="1066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08136"/>
                </a:solidFill>
                <a:latin typeface="Noto Serif SC"/>
                <a:ea typeface="Noto Serif SC"/>
                <a:cs typeface="Noto Serif SC"/>
                <a:sym typeface="Noto Serif SC"/>
              </a:rPr>
              <a:t>专家观点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5105400"/>
            <a:ext cx="10668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true" strike="noStrike" u="none" sz="1400">
                <a:solidFill>
                  <a:srgbClr val="DCE4F0"/>
                </a:solidFill>
                <a:latin typeface="Noto Serif SC"/>
                <a:ea typeface="Noto Serif SC"/>
                <a:cs typeface="Noto Serif SC"/>
                <a:sym typeface="Noto Serif SC"/>
              </a:rPr>
              <a:t>"光学成像的未来不在于单纯追求更高倍率，而在于软件算法与硬件光学的深度融合。AI 驱动的计算成像将重新定义显微镜的能力边界。"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3836" flipH="false" flipV="false">
            <a:off x="406404" y="6038850"/>
            <a:ext cx="11379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406400" y="61722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参考资料：</a:t>
            </a:r>
            <a:r>
              <a:rPr lang="en-US" b="false" i="false" strike="noStrike" u="none" sz="1100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  <a:hlinkClick r:id="rId3" tooltip="https://example.com/research/optics-202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《2026 光学成像行业白皮书》</a:t>
            </a:r>
            <a:r>
              <a:rPr lang="en-US" b="false" i="false" strike="noStrike" u="none" sz="1100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 · </a:t>
            </a:r>
            <a:r>
              <a:rPr lang="en-US" b="false" i="false" strike="noStrike" u="none" sz="1100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  <a:hlinkClick r:id="rId4" tooltip="https://example.com/lab/evalu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第三方实验室评测报告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0" y="6172200"/>
            <a:ext cx="41656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联系：test-parser@example.com · 文档版本 v2.0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3836" flipH="false" flipV="false">
            <a:off x="406404" y="6521450"/>
            <a:ext cx="11379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406400" y="6604000"/>
            <a:ext cx="6350000" cy="177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4A3B8"/>
                </a:solidFill>
                <a:latin typeface="Noto Serif SC"/>
                <a:ea typeface="Noto Serif SC"/>
                <a:cs typeface="Noto Serif SC"/>
                <a:sym typeface="Noto Serif SC"/>
              </a:rPr>
              <a:t>本演示文稿为 PPT 解析工具测试用例，所有数据均为模拟值，不构成任何投资或采购建议。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0160000" y="6604000"/>
            <a:ext cx="1625600" cy="177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4A3B8"/>
                </a:solidFill>
                <a:latin typeface="Noto Serif SC"/>
                <a:ea typeface="Noto Serif SC"/>
                <a:cs typeface="Noto Serif SC"/>
                <a:sym typeface="Noto Serif SC"/>
              </a:rPr>
              <a:t>— END —</a:t>
            </a:r>
            <a:endParaRPr lang="en-US" sz="1100"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{"Label":"1","ContentProducer":"001191110102MACQD9K64010000","ProduceID":"7679012417687210972","ReservedCode1":"","ContentPropagator":"","PropagateID":"","ReservedCode2":""}</vt:lpwstr>
  </property>
</Properties>
</file>